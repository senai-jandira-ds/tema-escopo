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embeddedFontLst>
    <p:embeddedFont>
      <p:font typeface="Montserrat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jYn11534VeESpJGY8TF/bRXZFV7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Montserrat-bold.fntdata"/><Relationship Id="rId12" Type="http://schemas.openxmlformats.org/officeDocument/2006/relationships/font" Target="fonts/Montserrat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-boldItalic.fntdata"/><Relationship Id="rId14" Type="http://schemas.openxmlformats.org/officeDocument/2006/relationships/font" Target="fonts/Montserrat-italic.fntdata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" name="Google Shape;6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86d896d401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g386d896d401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86d896d401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386d896d401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86d896d401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86d896d401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_1">
  <p:cSld name="Layout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1785060" y="2074736"/>
            <a:ext cx="8915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064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2" type="body"/>
          </p:nvPr>
        </p:nvSpPr>
        <p:spPr>
          <a:xfrm>
            <a:off x="1785060" y="3165925"/>
            <a:ext cx="34968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51E3C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E51E3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idx="3" type="body"/>
          </p:nvPr>
        </p:nvSpPr>
        <p:spPr>
          <a:xfrm>
            <a:off x="1784350" y="3686175"/>
            <a:ext cx="8323200" cy="8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4" type="body"/>
          </p:nvPr>
        </p:nvSpPr>
        <p:spPr>
          <a:xfrm rot="-5400000">
            <a:off x="-195393" y="2677581"/>
            <a:ext cx="13677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_5">
  <p:cSld name="Layout_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idx="1" type="body"/>
          </p:nvPr>
        </p:nvSpPr>
        <p:spPr>
          <a:xfrm rot="-5400000">
            <a:off x="-195393" y="2544961"/>
            <a:ext cx="13677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11"/>
          <p:cNvSpPr txBox="1"/>
          <p:nvPr>
            <p:ph idx="2" type="body"/>
          </p:nvPr>
        </p:nvSpPr>
        <p:spPr>
          <a:xfrm>
            <a:off x="1549643" y="2324513"/>
            <a:ext cx="8823000" cy="18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51E3C"/>
              </a:buClr>
              <a:buSzPts val="7200"/>
              <a:buFont typeface="Arial"/>
              <a:buNone/>
              <a:defRPr b="1" i="0" sz="7200" u="none" cap="none" strike="noStrike">
                <a:solidFill>
                  <a:srgbClr val="E51E3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3" type="body"/>
          </p:nvPr>
        </p:nvSpPr>
        <p:spPr>
          <a:xfrm>
            <a:off x="1549643" y="1880046"/>
            <a:ext cx="73089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_2">
  <p:cSld name="Layout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2"/>
          <p:cNvSpPr/>
          <p:nvPr>
            <p:ph idx="2" type="pic"/>
          </p:nvPr>
        </p:nvSpPr>
        <p:spPr>
          <a:xfrm>
            <a:off x="7516800" y="1"/>
            <a:ext cx="4675200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21" name="Google Shape;2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21485" y="5652000"/>
            <a:ext cx="1783316" cy="6009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2"/>
          <p:cNvSpPr txBox="1"/>
          <p:nvPr>
            <p:ph idx="1" type="body"/>
          </p:nvPr>
        </p:nvSpPr>
        <p:spPr>
          <a:xfrm>
            <a:off x="1634452" y="2472844"/>
            <a:ext cx="4547400" cy="9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064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12"/>
          <p:cNvSpPr txBox="1"/>
          <p:nvPr>
            <p:ph idx="3" type="body"/>
          </p:nvPr>
        </p:nvSpPr>
        <p:spPr>
          <a:xfrm>
            <a:off x="1634452" y="2109725"/>
            <a:ext cx="34968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51E3C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E51E3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12"/>
          <p:cNvSpPr txBox="1"/>
          <p:nvPr>
            <p:ph idx="4" type="body"/>
          </p:nvPr>
        </p:nvSpPr>
        <p:spPr>
          <a:xfrm>
            <a:off x="1633743" y="3783198"/>
            <a:ext cx="4848300" cy="10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12"/>
          <p:cNvSpPr txBox="1"/>
          <p:nvPr>
            <p:ph idx="5" type="body"/>
          </p:nvPr>
        </p:nvSpPr>
        <p:spPr>
          <a:xfrm rot="-5400000">
            <a:off x="-195393" y="2677581"/>
            <a:ext cx="13677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_3">
  <p:cSld name="Layout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3"/>
          <p:cNvSpPr txBox="1"/>
          <p:nvPr>
            <p:ph idx="1" type="body"/>
          </p:nvPr>
        </p:nvSpPr>
        <p:spPr>
          <a:xfrm rot="-5400000">
            <a:off x="-195393" y="2677581"/>
            <a:ext cx="13677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13"/>
          <p:cNvSpPr txBox="1"/>
          <p:nvPr>
            <p:ph idx="2" type="body"/>
          </p:nvPr>
        </p:nvSpPr>
        <p:spPr>
          <a:xfrm>
            <a:off x="1634451" y="2295927"/>
            <a:ext cx="86613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064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13"/>
          <p:cNvSpPr txBox="1"/>
          <p:nvPr>
            <p:ph idx="3" type="body"/>
          </p:nvPr>
        </p:nvSpPr>
        <p:spPr>
          <a:xfrm>
            <a:off x="1634452" y="1946038"/>
            <a:ext cx="60105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_4">
  <p:cSld name="Layout_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4"/>
          <p:cNvSpPr/>
          <p:nvPr>
            <p:ph idx="2" type="pic"/>
          </p:nvPr>
        </p:nvSpPr>
        <p:spPr>
          <a:xfrm>
            <a:off x="4111200" y="1"/>
            <a:ext cx="80808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14"/>
          <p:cNvSpPr txBox="1"/>
          <p:nvPr>
            <p:ph idx="1" type="body"/>
          </p:nvPr>
        </p:nvSpPr>
        <p:spPr>
          <a:xfrm rot="-5400000">
            <a:off x="-195393" y="2973748"/>
            <a:ext cx="13677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14"/>
          <p:cNvSpPr txBox="1"/>
          <p:nvPr>
            <p:ph idx="3" type="body"/>
          </p:nvPr>
        </p:nvSpPr>
        <p:spPr>
          <a:xfrm>
            <a:off x="865189" y="2063631"/>
            <a:ext cx="30408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064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14"/>
          <p:cNvSpPr txBox="1"/>
          <p:nvPr>
            <p:ph idx="4" type="body"/>
          </p:nvPr>
        </p:nvSpPr>
        <p:spPr>
          <a:xfrm>
            <a:off x="865189" y="3429000"/>
            <a:ext cx="2981400" cy="11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14"/>
          <p:cNvSpPr/>
          <p:nvPr/>
        </p:nvSpPr>
        <p:spPr>
          <a:xfrm>
            <a:off x="4111200" y="0"/>
            <a:ext cx="8080800" cy="6858000"/>
          </a:xfrm>
          <a:prstGeom prst="rect">
            <a:avLst/>
          </a:prstGeom>
          <a:solidFill>
            <a:schemeClr val="dk1">
              <a:alpha val="49803"/>
            </a:schemeClr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_6">
  <p:cSld name="Layout_6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/>
          <p:nvPr>
            <p:ph idx="2" type="pic"/>
          </p:nvPr>
        </p:nvSpPr>
        <p:spPr>
          <a:xfrm>
            <a:off x="6096000" y="1"/>
            <a:ext cx="6096000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38" name="Google Shape;3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21485" y="5652000"/>
            <a:ext cx="1783316" cy="6009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5"/>
          <p:cNvSpPr txBox="1"/>
          <p:nvPr>
            <p:ph idx="1" type="body"/>
          </p:nvPr>
        </p:nvSpPr>
        <p:spPr>
          <a:xfrm>
            <a:off x="1549643" y="2324513"/>
            <a:ext cx="8823000" cy="18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15"/>
          <p:cNvSpPr txBox="1"/>
          <p:nvPr>
            <p:ph idx="3" type="body"/>
          </p:nvPr>
        </p:nvSpPr>
        <p:spPr>
          <a:xfrm>
            <a:off x="1549643" y="1880046"/>
            <a:ext cx="73089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15"/>
          <p:cNvSpPr txBox="1"/>
          <p:nvPr>
            <p:ph idx="4" type="body"/>
          </p:nvPr>
        </p:nvSpPr>
        <p:spPr>
          <a:xfrm rot="-5400000">
            <a:off x="-195393" y="2754015"/>
            <a:ext cx="13677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_9">
  <p:cSld name="Layout_9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6"/>
          <p:cNvSpPr/>
          <p:nvPr>
            <p:ph idx="2" type="pic"/>
          </p:nvPr>
        </p:nvSpPr>
        <p:spPr>
          <a:xfrm>
            <a:off x="7099200" y="892800"/>
            <a:ext cx="3247200" cy="50832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16"/>
          <p:cNvSpPr txBox="1"/>
          <p:nvPr>
            <p:ph idx="1" type="body"/>
          </p:nvPr>
        </p:nvSpPr>
        <p:spPr>
          <a:xfrm rot="-5400000">
            <a:off x="-195393" y="2691544"/>
            <a:ext cx="13677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16"/>
          <p:cNvSpPr txBox="1"/>
          <p:nvPr>
            <p:ph idx="3" type="body"/>
          </p:nvPr>
        </p:nvSpPr>
        <p:spPr>
          <a:xfrm>
            <a:off x="1634452" y="2472844"/>
            <a:ext cx="4547400" cy="9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064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16"/>
          <p:cNvSpPr txBox="1"/>
          <p:nvPr>
            <p:ph idx="4" type="body"/>
          </p:nvPr>
        </p:nvSpPr>
        <p:spPr>
          <a:xfrm>
            <a:off x="1634452" y="2109725"/>
            <a:ext cx="34968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51E3C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E51E3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16"/>
          <p:cNvSpPr txBox="1"/>
          <p:nvPr>
            <p:ph idx="5" type="body"/>
          </p:nvPr>
        </p:nvSpPr>
        <p:spPr>
          <a:xfrm>
            <a:off x="1633743" y="3783198"/>
            <a:ext cx="4848300" cy="10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_7">
  <p:cSld name="Layout_7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7"/>
          <p:cNvSpPr/>
          <p:nvPr>
            <p:ph idx="2" type="pic"/>
          </p:nvPr>
        </p:nvSpPr>
        <p:spPr>
          <a:xfrm>
            <a:off x="6096000" y="1"/>
            <a:ext cx="6096000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50" name="Google Shape;5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21485" y="5652000"/>
            <a:ext cx="1783316" cy="6009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7"/>
          <p:cNvSpPr txBox="1"/>
          <p:nvPr>
            <p:ph idx="1" type="body"/>
          </p:nvPr>
        </p:nvSpPr>
        <p:spPr>
          <a:xfrm rot="-5400000">
            <a:off x="-195393" y="2708502"/>
            <a:ext cx="13677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17"/>
          <p:cNvSpPr txBox="1"/>
          <p:nvPr>
            <p:ph idx="3" type="body"/>
          </p:nvPr>
        </p:nvSpPr>
        <p:spPr>
          <a:xfrm>
            <a:off x="1549643" y="2324513"/>
            <a:ext cx="8823000" cy="18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7"/>
          <p:cNvSpPr txBox="1"/>
          <p:nvPr>
            <p:ph idx="4" type="body"/>
          </p:nvPr>
        </p:nvSpPr>
        <p:spPr>
          <a:xfrm>
            <a:off x="1549643" y="1880046"/>
            <a:ext cx="73089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_8">
  <p:cSld name="Layout_8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/>
          <p:nvPr>
            <p:ph idx="2" type="pic"/>
          </p:nvPr>
        </p:nvSpPr>
        <p:spPr>
          <a:xfrm>
            <a:off x="1252800" y="1713600"/>
            <a:ext cx="6105600" cy="344880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18"/>
          <p:cNvSpPr txBox="1"/>
          <p:nvPr>
            <p:ph idx="1" type="body"/>
          </p:nvPr>
        </p:nvSpPr>
        <p:spPr>
          <a:xfrm rot="-5400000">
            <a:off x="-195393" y="2691544"/>
            <a:ext cx="13677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18"/>
          <p:cNvSpPr txBox="1"/>
          <p:nvPr>
            <p:ph idx="3" type="body"/>
          </p:nvPr>
        </p:nvSpPr>
        <p:spPr>
          <a:xfrm>
            <a:off x="7609462" y="2833431"/>
            <a:ext cx="3607500" cy="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064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18"/>
          <p:cNvSpPr txBox="1"/>
          <p:nvPr>
            <p:ph idx="4" type="body"/>
          </p:nvPr>
        </p:nvSpPr>
        <p:spPr>
          <a:xfrm>
            <a:off x="7609462" y="3955431"/>
            <a:ext cx="34968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51E3C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E51E3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18"/>
          <p:cNvSpPr txBox="1"/>
          <p:nvPr>
            <p:ph idx="5" type="body"/>
          </p:nvPr>
        </p:nvSpPr>
        <p:spPr>
          <a:xfrm>
            <a:off x="7608888" y="4235210"/>
            <a:ext cx="3608100" cy="9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"/>
          <p:cNvSpPr txBox="1"/>
          <p:nvPr>
            <p:ph idx="1" type="body"/>
          </p:nvPr>
        </p:nvSpPr>
        <p:spPr>
          <a:xfrm>
            <a:off x="1305025" y="585925"/>
            <a:ext cx="9395400" cy="18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None/>
            </a:pPr>
            <a:r>
              <a:rPr lang="pt-BR"/>
              <a:t>PITCH DE TEMA TCC - DESENVOLVIMENTO DE SISTEMAS</a:t>
            </a:r>
            <a:endParaRPr/>
          </a:p>
        </p:txBody>
      </p:sp>
      <p:sp>
        <p:nvSpPr>
          <p:cNvPr id="65" name="Google Shape;65;p1"/>
          <p:cNvSpPr txBox="1"/>
          <p:nvPr>
            <p:ph idx="2" type="body"/>
          </p:nvPr>
        </p:nvSpPr>
        <p:spPr>
          <a:xfrm>
            <a:off x="1491550" y="2694625"/>
            <a:ext cx="52806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51E3C"/>
              </a:buClr>
              <a:buSzPts val="2000"/>
              <a:buNone/>
            </a:pPr>
            <a:r>
              <a:rPr lang="pt-BR" sz="2400"/>
              <a:t>Desenvolvimento de Sistemas</a:t>
            </a:r>
            <a:endParaRPr sz="2400"/>
          </a:p>
        </p:txBody>
      </p:sp>
      <p:sp>
        <p:nvSpPr>
          <p:cNvPr id="66" name="Google Shape;66;p1"/>
          <p:cNvSpPr txBox="1"/>
          <p:nvPr>
            <p:ph idx="3" type="body"/>
          </p:nvPr>
        </p:nvSpPr>
        <p:spPr>
          <a:xfrm>
            <a:off x="1491550" y="3666472"/>
            <a:ext cx="8616000" cy="17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None/>
            </a:pPr>
            <a:r>
              <a:rPr lang="pt-BR"/>
              <a:t>André Roberto,</a:t>
            </a:r>
            <a:br>
              <a:rPr lang="pt-BR"/>
            </a:br>
            <a:r>
              <a:rPr lang="pt-BR"/>
              <a:t>Edvan Alves,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None/>
            </a:pPr>
            <a:r>
              <a:rPr lang="pt-BR"/>
              <a:t>João Pedro,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None/>
            </a:pPr>
            <a:r>
              <a:rPr lang="pt-BR"/>
              <a:t>Nathan da Silva,</a:t>
            </a:r>
            <a:br>
              <a:rPr lang="pt-BR"/>
            </a:br>
            <a:r>
              <a:rPr lang="pt-BR"/>
              <a:t>Samara Rolim</a:t>
            </a:r>
            <a:endParaRPr/>
          </a:p>
        </p:txBody>
      </p:sp>
      <p:sp>
        <p:nvSpPr>
          <p:cNvPr id="67" name="Google Shape;67;p1"/>
          <p:cNvSpPr txBox="1"/>
          <p:nvPr>
            <p:ph idx="4" type="body"/>
          </p:nvPr>
        </p:nvSpPr>
        <p:spPr>
          <a:xfrm rot="-5400000">
            <a:off x="-195393" y="2677581"/>
            <a:ext cx="13677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50"/>
              <a:buNone/>
            </a:pPr>
            <a:r>
              <a:rPr lang="pt-BR"/>
              <a:t>Março.2026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/>
          <p:cNvSpPr txBox="1"/>
          <p:nvPr>
            <p:ph idx="1" type="body"/>
          </p:nvPr>
        </p:nvSpPr>
        <p:spPr>
          <a:xfrm rot="-5400000">
            <a:off x="-195393" y="2544961"/>
            <a:ext cx="13677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</a:pPr>
            <a:r>
              <a:rPr lang="pt-BR"/>
              <a:t>Março.2026</a:t>
            </a:r>
            <a:endParaRPr/>
          </a:p>
          <a:p>
            <a:pPr indent="-228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 txBox="1"/>
          <p:nvPr>
            <p:ph idx="2" type="body"/>
          </p:nvPr>
        </p:nvSpPr>
        <p:spPr>
          <a:xfrm>
            <a:off x="1216250" y="1473700"/>
            <a:ext cx="10462200" cy="27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51E3C"/>
              </a:buClr>
              <a:buSzPts val="7200"/>
              <a:buFont typeface="Arial"/>
              <a:buNone/>
            </a:pPr>
            <a:r>
              <a:rPr lang="pt-BR" sz="5400"/>
              <a:t>O peso do Levantamento de Requisitos</a:t>
            </a:r>
            <a:endParaRPr sz="5400"/>
          </a:p>
        </p:txBody>
      </p:sp>
      <p:sp>
        <p:nvSpPr>
          <p:cNvPr id="74" name="Google Shape;74;p2"/>
          <p:cNvSpPr txBox="1"/>
          <p:nvPr>
            <p:ph idx="3" type="body"/>
          </p:nvPr>
        </p:nvSpPr>
        <p:spPr>
          <a:xfrm>
            <a:off x="1438175" y="550421"/>
            <a:ext cx="7420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</a:pPr>
            <a:r>
              <a:rPr lang="pt-BR" sz="4400"/>
              <a:t>INTRODUÇÃO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86d896d401_0_7"/>
          <p:cNvSpPr txBox="1"/>
          <p:nvPr>
            <p:ph idx="1" type="body"/>
          </p:nvPr>
        </p:nvSpPr>
        <p:spPr>
          <a:xfrm rot="-5400000">
            <a:off x="-195393" y="2544961"/>
            <a:ext cx="13677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</a:pPr>
            <a:r>
              <a:rPr lang="pt-BR"/>
              <a:t>Março.2026</a:t>
            </a:r>
            <a:endParaRPr/>
          </a:p>
          <a:p>
            <a:pPr indent="-228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80" name="Google Shape;80;g386d896d401_0_7"/>
          <p:cNvSpPr txBox="1"/>
          <p:nvPr>
            <p:ph idx="2" type="body"/>
          </p:nvPr>
        </p:nvSpPr>
        <p:spPr>
          <a:xfrm>
            <a:off x="1216250" y="1473695"/>
            <a:ext cx="9156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l">
              <a:spcBef>
                <a:spcPts val="1000"/>
              </a:spcBef>
              <a:spcAft>
                <a:spcPts val="0"/>
              </a:spcAft>
              <a:buClr>
                <a:srgbClr val="E51E3C"/>
              </a:buClr>
              <a:buSzPts val="7200"/>
              <a:buFont typeface="Arial"/>
              <a:buNone/>
            </a:pPr>
            <a:r>
              <a:rPr lang="pt-BR" sz="5400"/>
              <a:t>Ferramentas dispersas:</a:t>
            </a:r>
            <a:endParaRPr sz="5400"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51E3C"/>
              </a:buClr>
              <a:buSzPts val="7200"/>
              <a:buFont typeface="Arial"/>
              <a:buNone/>
            </a:pPr>
            <a:r>
              <a:t/>
            </a:r>
            <a:endParaRPr sz="5400"/>
          </a:p>
        </p:txBody>
      </p:sp>
      <p:sp>
        <p:nvSpPr>
          <p:cNvPr id="81" name="Google Shape;81;g386d896d401_0_7"/>
          <p:cNvSpPr txBox="1"/>
          <p:nvPr>
            <p:ph idx="3" type="body"/>
          </p:nvPr>
        </p:nvSpPr>
        <p:spPr>
          <a:xfrm>
            <a:off x="1438175" y="550421"/>
            <a:ext cx="7420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</a:pPr>
            <a:r>
              <a:rPr lang="pt-BR" sz="4400"/>
              <a:t>O CENÁRIO ATUAL</a:t>
            </a:r>
            <a:endParaRPr/>
          </a:p>
        </p:txBody>
      </p:sp>
      <p:sp>
        <p:nvSpPr>
          <p:cNvPr id="82" name="Google Shape;82;g386d896d401_0_7"/>
          <p:cNvSpPr txBox="1"/>
          <p:nvPr>
            <p:ph idx="2" type="body"/>
          </p:nvPr>
        </p:nvSpPr>
        <p:spPr>
          <a:xfrm>
            <a:off x="1517850" y="2397100"/>
            <a:ext cx="9156300" cy="20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318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B1222"/>
              </a:buClr>
              <a:buSzPts val="3200"/>
              <a:buChar char="●"/>
            </a:pPr>
            <a:r>
              <a:rPr lang="pt-BR" sz="3200">
                <a:solidFill>
                  <a:srgbClr val="7B1222"/>
                </a:solidFill>
              </a:rPr>
              <a:t>Diagramas: Visio, Draw.io</a:t>
            </a:r>
            <a:endParaRPr sz="3200">
              <a:solidFill>
                <a:srgbClr val="7B1222"/>
              </a:solidFill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1222"/>
              </a:buClr>
              <a:buSzPts val="3200"/>
              <a:buChar char="●"/>
            </a:pPr>
            <a:r>
              <a:rPr lang="pt-BR" sz="3200">
                <a:solidFill>
                  <a:srgbClr val="7B1222"/>
                </a:solidFill>
              </a:rPr>
              <a:t>Protótipos: Figma, Adobe XD</a:t>
            </a:r>
            <a:endParaRPr sz="3200">
              <a:solidFill>
                <a:srgbClr val="7B1222"/>
              </a:solidFill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1222"/>
              </a:buClr>
              <a:buSzPts val="3200"/>
              <a:buChar char="●"/>
            </a:pPr>
            <a:r>
              <a:rPr lang="pt-BR" sz="3200" u="sng">
                <a:solidFill>
                  <a:srgbClr val="7B1222"/>
                </a:solidFill>
              </a:rPr>
              <a:t>Documentação: Word, Google Docs</a:t>
            </a:r>
            <a:endParaRPr sz="3200" u="sng">
              <a:solidFill>
                <a:srgbClr val="7B1222"/>
              </a:solidFill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1222"/>
              </a:buClr>
              <a:buSzPts val="3200"/>
              <a:buChar char="●"/>
            </a:pPr>
            <a:r>
              <a:rPr lang="pt-BR" sz="3200">
                <a:solidFill>
                  <a:srgbClr val="7B1222"/>
                </a:solidFill>
              </a:rPr>
              <a:t>Organização: Extrair para Jira,Trello</a:t>
            </a:r>
            <a:endParaRPr sz="3200">
              <a:solidFill>
                <a:srgbClr val="7B122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86d896d401_0_14"/>
          <p:cNvSpPr txBox="1"/>
          <p:nvPr>
            <p:ph idx="1" type="body"/>
          </p:nvPr>
        </p:nvSpPr>
        <p:spPr>
          <a:xfrm rot="-5400000">
            <a:off x="-195393" y="2544961"/>
            <a:ext cx="13677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</a:pPr>
            <a:r>
              <a:rPr lang="pt-BR"/>
              <a:t>Março.2026</a:t>
            </a:r>
            <a:endParaRPr/>
          </a:p>
          <a:p>
            <a:pPr indent="-228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88" name="Google Shape;88;g386d896d401_0_14"/>
          <p:cNvSpPr txBox="1"/>
          <p:nvPr>
            <p:ph idx="2" type="body"/>
          </p:nvPr>
        </p:nvSpPr>
        <p:spPr>
          <a:xfrm>
            <a:off x="1216250" y="1473700"/>
            <a:ext cx="10366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51E3C"/>
              </a:buClr>
              <a:buSzPts val="7200"/>
              <a:buFont typeface="Arial"/>
              <a:buNone/>
            </a:pPr>
            <a:r>
              <a:rPr lang="pt-BR" sz="5400"/>
              <a:t>Plataformas especializadas:</a:t>
            </a:r>
            <a:endParaRPr sz="5400"/>
          </a:p>
        </p:txBody>
      </p:sp>
      <p:sp>
        <p:nvSpPr>
          <p:cNvPr id="89" name="Google Shape;89;g386d896d401_0_14"/>
          <p:cNvSpPr txBox="1"/>
          <p:nvPr>
            <p:ph idx="3" type="body"/>
          </p:nvPr>
        </p:nvSpPr>
        <p:spPr>
          <a:xfrm>
            <a:off x="1438175" y="550421"/>
            <a:ext cx="7420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</a:pPr>
            <a:r>
              <a:rPr lang="pt-BR" sz="4400"/>
              <a:t>O CENÁRIO ATUAL</a:t>
            </a:r>
            <a:endParaRPr/>
          </a:p>
        </p:txBody>
      </p:sp>
      <p:sp>
        <p:nvSpPr>
          <p:cNvPr id="90" name="Google Shape;90;g386d896d401_0_14"/>
          <p:cNvSpPr txBox="1"/>
          <p:nvPr>
            <p:ph idx="2" type="body"/>
          </p:nvPr>
        </p:nvSpPr>
        <p:spPr>
          <a:xfrm>
            <a:off x="1517850" y="2397100"/>
            <a:ext cx="9156300" cy="23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318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B1222"/>
              </a:buClr>
              <a:buSzPts val="3200"/>
              <a:buChar char="●"/>
            </a:pPr>
            <a:r>
              <a:rPr lang="pt-BR" sz="3200">
                <a:solidFill>
                  <a:srgbClr val="7B1222"/>
                </a:solidFill>
              </a:rPr>
              <a:t>Confluence: Wiki Colaborativa</a:t>
            </a:r>
            <a:endParaRPr sz="3200">
              <a:solidFill>
                <a:srgbClr val="7B1222"/>
              </a:solidFill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1222"/>
              </a:buClr>
              <a:buSzPts val="3200"/>
              <a:buChar char="●"/>
            </a:pPr>
            <a:r>
              <a:rPr lang="pt-BR" sz="3200">
                <a:solidFill>
                  <a:srgbClr val="7B1222"/>
                </a:solidFill>
              </a:rPr>
              <a:t>IBM Engineering Requirements Management DOORS</a:t>
            </a:r>
            <a:endParaRPr sz="3200">
              <a:solidFill>
                <a:srgbClr val="7B1222"/>
              </a:solidFill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1222"/>
              </a:buClr>
              <a:buSzPts val="3200"/>
              <a:buChar char="●"/>
            </a:pPr>
            <a:r>
              <a:rPr lang="pt-BR" sz="3200">
                <a:solidFill>
                  <a:srgbClr val="7B1222"/>
                </a:solidFill>
              </a:rPr>
              <a:t>SpiraTeam</a:t>
            </a:r>
            <a:endParaRPr b="0" sz="3200">
              <a:solidFill>
                <a:srgbClr val="7B122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>
            <p:ph idx="1" type="body"/>
          </p:nvPr>
        </p:nvSpPr>
        <p:spPr>
          <a:xfrm rot="-5400000">
            <a:off x="-195393" y="2544961"/>
            <a:ext cx="13677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</a:pPr>
            <a:r>
              <a:rPr lang="pt-BR"/>
              <a:t>Março.2026</a:t>
            </a:r>
            <a:endParaRPr/>
          </a:p>
          <a:p>
            <a:pPr indent="-228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 txBox="1"/>
          <p:nvPr>
            <p:ph idx="3" type="body"/>
          </p:nvPr>
        </p:nvSpPr>
        <p:spPr>
          <a:xfrm>
            <a:off x="1549643" y="479394"/>
            <a:ext cx="7308900" cy="1702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</a:pPr>
            <a:r>
              <a:rPr lang="pt-BR" sz="4400"/>
              <a:t>A SOLUÇÃO</a:t>
            </a:r>
            <a:endParaRPr/>
          </a:p>
        </p:txBody>
      </p:sp>
      <p:sp>
        <p:nvSpPr>
          <p:cNvPr id="97" name="Google Shape;97;p3"/>
          <p:cNvSpPr txBox="1"/>
          <p:nvPr>
            <p:ph idx="2" type="body"/>
          </p:nvPr>
        </p:nvSpPr>
        <p:spPr>
          <a:xfrm>
            <a:off x="1216250" y="1473700"/>
            <a:ext cx="10366200" cy="24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l">
              <a:spcBef>
                <a:spcPts val="1000"/>
              </a:spcBef>
              <a:spcAft>
                <a:spcPts val="0"/>
              </a:spcAft>
              <a:buClr>
                <a:srgbClr val="E51E3C"/>
              </a:buClr>
              <a:buSzPts val="7200"/>
              <a:buFont typeface="Arial"/>
              <a:buNone/>
            </a:pPr>
            <a:r>
              <a:rPr lang="pt-BR" sz="5000"/>
              <a:t>Uma plataforma colaborativa</a:t>
            </a:r>
            <a:endParaRPr sz="5000"/>
          </a:p>
        </p:txBody>
      </p:sp>
      <p:sp>
        <p:nvSpPr>
          <p:cNvPr id="98" name="Google Shape;98;p3"/>
          <p:cNvSpPr txBox="1"/>
          <p:nvPr>
            <p:ph idx="2" type="body"/>
          </p:nvPr>
        </p:nvSpPr>
        <p:spPr>
          <a:xfrm>
            <a:off x="1517850" y="2397100"/>
            <a:ext cx="9156300" cy="23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318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B1222"/>
              </a:buClr>
              <a:buSzPts val="3200"/>
              <a:buChar char="●"/>
            </a:pPr>
            <a:r>
              <a:rPr lang="pt-BR" sz="3200">
                <a:solidFill>
                  <a:srgbClr val="7B1222"/>
                </a:solidFill>
              </a:rPr>
              <a:t>Sistema intuitivo e colaborativo</a:t>
            </a:r>
            <a:endParaRPr sz="3200">
              <a:solidFill>
                <a:srgbClr val="7B1222"/>
              </a:solidFill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1222"/>
              </a:buClr>
              <a:buSzPts val="3200"/>
              <a:buChar char="●"/>
            </a:pPr>
            <a:r>
              <a:rPr lang="pt-BR" sz="3200">
                <a:solidFill>
                  <a:srgbClr val="7B1222"/>
                </a:solidFill>
              </a:rPr>
              <a:t>Versionamento e histórico de versões</a:t>
            </a:r>
            <a:endParaRPr sz="3200">
              <a:solidFill>
                <a:srgbClr val="7B1222"/>
              </a:solidFill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1222"/>
              </a:buClr>
              <a:buSzPts val="3200"/>
              <a:buChar char="●"/>
            </a:pPr>
            <a:r>
              <a:rPr lang="pt-BR" sz="3200">
                <a:solidFill>
                  <a:srgbClr val="7B1222"/>
                </a:solidFill>
              </a:rPr>
              <a:t>Assistente de IA</a:t>
            </a:r>
            <a:endParaRPr sz="3200">
              <a:solidFill>
                <a:srgbClr val="7B122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/>
          <p:nvPr>
            <p:ph idx="1" type="body"/>
          </p:nvPr>
        </p:nvSpPr>
        <p:spPr>
          <a:xfrm rot="-5400000">
            <a:off x="-195393" y="2544961"/>
            <a:ext cx="13677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</a:pPr>
            <a:r>
              <a:rPr lang="pt-BR"/>
              <a:t>Março.2026</a:t>
            </a:r>
            <a:endParaRPr/>
          </a:p>
          <a:p>
            <a:pPr indent="-228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 txBox="1"/>
          <p:nvPr>
            <p:ph idx="3" type="body"/>
          </p:nvPr>
        </p:nvSpPr>
        <p:spPr>
          <a:xfrm>
            <a:off x="1549650" y="479400"/>
            <a:ext cx="8437500" cy="17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l"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</a:pPr>
            <a:r>
              <a:rPr lang="pt-BR" sz="4400"/>
              <a:t>BENEFÍCIOS ESPERADOS</a:t>
            </a:r>
            <a:endParaRPr/>
          </a:p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</a:pPr>
            <a:r>
              <a:t/>
            </a:r>
            <a:endParaRPr sz="4400"/>
          </a:p>
        </p:txBody>
      </p:sp>
      <p:sp>
        <p:nvSpPr>
          <p:cNvPr id="105" name="Google Shape;105;p4"/>
          <p:cNvSpPr txBox="1"/>
          <p:nvPr>
            <p:ph idx="2" type="body"/>
          </p:nvPr>
        </p:nvSpPr>
        <p:spPr>
          <a:xfrm>
            <a:off x="1383000" y="1491650"/>
            <a:ext cx="9156300" cy="23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51E3C"/>
              </a:buClr>
              <a:buSzPts val="3600"/>
              <a:buChar char="●"/>
            </a:pPr>
            <a:r>
              <a:rPr lang="pt-BR" sz="3600">
                <a:solidFill>
                  <a:srgbClr val="E51E3C"/>
                </a:solidFill>
              </a:rPr>
              <a:t>Eficiência</a:t>
            </a:r>
            <a:endParaRPr sz="3600">
              <a:solidFill>
                <a:srgbClr val="E51E3C"/>
              </a:solidFill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1E3C"/>
              </a:buClr>
              <a:buSzPts val="3600"/>
              <a:buChar char="●"/>
            </a:pPr>
            <a:r>
              <a:rPr lang="pt-BR" sz="3600">
                <a:solidFill>
                  <a:srgbClr val="E51E3C"/>
                </a:solidFill>
              </a:rPr>
              <a:t>Qualidade</a:t>
            </a:r>
            <a:endParaRPr sz="3600">
              <a:solidFill>
                <a:srgbClr val="E51E3C"/>
              </a:solidFill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1E3C"/>
              </a:buClr>
              <a:buSzPts val="3600"/>
              <a:buChar char="●"/>
            </a:pPr>
            <a:r>
              <a:rPr lang="pt-BR" sz="3600">
                <a:solidFill>
                  <a:srgbClr val="E51E3C"/>
                </a:solidFill>
              </a:rPr>
              <a:t>Gestão</a:t>
            </a:r>
            <a:endParaRPr sz="3600">
              <a:solidFill>
                <a:srgbClr val="E51E3C"/>
              </a:solidFill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1E3C"/>
              </a:buClr>
              <a:buSzPts val="3600"/>
              <a:buChar char="●"/>
            </a:pPr>
            <a:r>
              <a:rPr lang="pt-BR" sz="3600">
                <a:solidFill>
                  <a:srgbClr val="E51E3C"/>
                </a:solidFill>
              </a:rPr>
              <a:t>Financeiro</a:t>
            </a:r>
            <a:endParaRPr sz="3600">
              <a:solidFill>
                <a:srgbClr val="E51E3C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6d896d401_0_23"/>
          <p:cNvSpPr txBox="1"/>
          <p:nvPr>
            <p:ph idx="1" type="body"/>
          </p:nvPr>
        </p:nvSpPr>
        <p:spPr>
          <a:xfrm rot="-5400000">
            <a:off x="-195393" y="2544961"/>
            <a:ext cx="13677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</a:pPr>
            <a:r>
              <a:rPr lang="pt-BR"/>
              <a:t>Março.2026</a:t>
            </a:r>
            <a:endParaRPr/>
          </a:p>
          <a:p>
            <a:pPr indent="-228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11" name="Google Shape;111;g386d896d401_0_23"/>
          <p:cNvSpPr txBox="1"/>
          <p:nvPr>
            <p:ph idx="3" type="body"/>
          </p:nvPr>
        </p:nvSpPr>
        <p:spPr>
          <a:xfrm>
            <a:off x="1549650" y="479400"/>
            <a:ext cx="8437500" cy="17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l"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</a:pPr>
            <a:r>
              <a:rPr lang="pt-BR" sz="4400"/>
              <a:t>MODELO DE NEGÓCIO</a:t>
            </a:r>
            <a:endParaRPr sz="4400"/>
          </a:p>
        </p:txBody>
      </p:sp>
      <p:sp>
        <p:nvSpPr>
          <p:cNvPr id="112" name="Google Shape;112;g386d896d401_0_23"/>
          <p:cNvSpPr txBox="1"/>
          <p:nvPr>
            <p:ph idx="2" type="body"/>
          </p:nvPr>
        </p:nvSpPr>
        <p:spPr>
          <a:xfrm>
            <a:off x="1383000" y="1491650"/>
            <a:ext cx="9156300" cy="23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51E3C"/>
              </a:buClr>
              <a:buSzPts val="3600"/>
              <a:buChar char="●"/>
            </a:pPr>
            <a:r>
              <a:rPr lang="pt-BR" sz="3600">
                <a:solidFill>
                  <a:srgbClr val="E51E3C"/>
                </a:solidFill>
              </a:rPr>
              <a:t>Licenças corporativas</a:t>
            </a:r>
            <a:endParaRPr sz="3600">
              <a:solidFill>
                <a:srgbClr val="E51E3C"/>
              </a:solidFill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1E3C"/>
              </a:buClr>
              <a:buSzPts val="3600"/>
              <a:buChar char="●"/>
            </a:pPr>
            <a:r>
              <a:rPr lang="pt-BR" sz="3600">
                <a:solidFill>
                  <a:srgbClr val="E51E3C"/>
                </a:solidFill>
              </a:rPr>
              <a:t>Planos mensais para times menores</a:t>
            </a:r>
            <a:endParaRPr sz="3600">
              <a:solidFill>
                <a:srgbClr val="E51E3C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E51E3C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MARILI APRIJO DE FARIAS</dc:creator>
</cp:coreProperties>
</file>